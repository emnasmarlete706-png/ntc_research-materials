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nva Sans" panose="020B0604020202020204" charset="0"/>
      <p:regular r:id="rId19"/>
    </p:embeddedFont>
    <p:embeddedFont>
      <p:font typeface="Canva Sans Bold" panose="020B0604020202020204" charset="0"/>
      <p:regular r:id="rId20"/>
    </p:embeddedFont>
    <p:embeddedFont>
      <p:font typeface="Chewy" panose="020B0604020202020204" charset="0"/>
      <p:regular r:id="rId21"/>
    </p:embeddedFont>
    <p:embeddedFont>
      <p:font typeface="TT Interphases" panose="020B0604020202020204" charset="0"/>
      <p:regular r:id="rId22"/>
    </p:embeddedFont>
    <p:embeddedFont>
      <p:font typeface="TT Interphases Bold" panose="020B0604020202020204" charset="0"/>
      <p:regular r:id="rId23"/>
    </p:embeddedFont>
    <p:embeddedFont>
      <p:font typeface="TT Interphases Bold Italics" panose="020B0604020202020204" charset="0"/>
      <p:regular r:id="rId24"/>
    </p:embeddedFont>
    <p:embeddedFont>
      <p:font typeface="TT Knickerbockers Script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2.svg"/><Relationship Id="rId10" Type="http://schemas.openxmlformats.org/officeDocument/2006/relationships/image" Target="../media/image9.svg"/><Relationship Id="rId4" Type="http://schemas.openxmlformats.org/officeDocument/2006/relationships/image" Target="../media/image1.pn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6619288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9871" y="7725812"/>
            <a:ext cx="3301362" cy="3008277"/>
          </a:xfrm>
          <a:custGeom>
            <a:avLst/>
            <a:gdLst/>
            <a:ahLst/>
            <a:cxnLst/>
            <a:rect l="l" t="t" r="r" b="b"/>
            <a:pathLst>
              <a:path w="3301362" h="3008277">
                <a:moveTo>
                  <a:pt x="0" y="0"/>
                </a:moveTo>
                <a:lnTo>
                  <a:pt x="3301363" y="0"/>
                </a:lnTo>
                <a:lnTo>
                  <a:pt x="3301363" y="3008276"/>
                </a:lnTo>
                <a:lnTo>
                  <a:pt x="0" y="300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465891" y="-386515"/>
            <a:ext cx="3301362" cy="3008277"/>
          </a:xfrm>
          <a:custGeom>
            <a:avLst/>
            <a:gdLst/>
            <a:ahLst/>
            <a:cxnLst/>
            <a:rect l="l" t="t" r="r" b="b"/>
            <a:pathLst>
              <a:path w="3301362" h="3008277">
                <a:moveTo>
                  <a:pt x="3301362" y="3008276"/>
                </a:moveTo>
                <a:lnTo>
                  <a:pt x="0" y="3008276"/>
                </a:lnTo>
                <a:lnTo>
                  <a:pt x="0" y="0"/>
                </a:lnTo>
                <a:lnTo>
                  <a:pt x="3301362" y="0"/>
                </a:lnTo>
                <a:lnTo>
                  <a:pt x="3301362" y="30082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452529" y="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2835471" y="0"/>
                </a:moveTo>
                <a:lnTo>
                  <a:pt x="0" y="0"/>
                </a:lnTo>
                <a:lnTo>
                  <a:pt x="0" y="4114800"/>
                </a:lnTo>
                <a:lnTo>
                  <a:pt x="2835471" y="4114800"/>
                </a:lnTo>
                <a:lnTo>
                  <a:pt x="28354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489168" y="2478886"/>
            <a:ext cx="12963361" cy="6998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35"/>
              </a:lnSpc>
            </a:pPr>
            <a:r>
              <a:rPr lang="en-US" sz="6667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Teachers' Strategies in Enhancing Students' Engagement in Food Processing Lessons at E. Rodriguez Jr.</a:t>
            </a:r>
          </a:p>
          <a:p>
            <a:pPr algn="ctr">
              <a:lnSpc>
                <a:spcPts val="9335"/>
              </a:lnSpc>
            </a:pPr>
            <a:r>
              <a:rPr lang="en-US" sz="6667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 High School</a:t>
            </a:r>
          </a:p>
          <a:p>
            <a:pPr algn="ctr">
              <a:lnSpc>
                <a:spcPts val="9335"/>
              </a:lnSpc>
            </a:pPr>
            <a:endParaRPr lang="en-US" sz="6667">
              <a:solidFill>
                <a:srgbClr val="3D414D"/>
              </a:solidFill>
              <a:latin typeface="Chewy"/>
              <a:ea typeface="Chewy"/>
              <a:cs typeface="Chewy"/>
              <a:sym typeface="Chewy"/>
            </a:endParaRPr>
          </a:p>
          <a:p>
            <a:pPr algn="ctr">
              <a:lnSpc>
                <a:spcPts val="8775"/>
              </a:lnSpc>
            </a:pPr>
            <a:endParaRPr lang="en-US" sz="6667">
              <a:solidFill>
                <a:srgbClr val="3D414D"/>
              </a:solidFill>
              <a:latin typeface="Chewy"/>
              <a:ea typeface="Chewy"/>
              <a:cs typeface="Chewy"/>
              <a:sym typeface="Chew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409277" y="8809626"/>
            <a:ext cx="2111956" cy="1924463"/>
          </a:xfrm>
          <a:custGeom>
            <a:avLst/>
            <a:gdLst/>
            <a:ahLst/>
            <a:cxnLst/>
            <a:rect l="l" t="t" r="r" b="b"/>
            <a:pathLst>
              <a:path w="2111956" h="1924463">
                <a:moveTo>
                  <a:pt x="0" y="0"/>
                </a:moveTo>
                <a:lnTo>
                  <a:pt x="2111957" y="0"/>
                </a:lnTo>
                <a:lnTo>
                  <a:pt x="2111957" y="1924462"/>
                </a:lnTo>
                <a:lnTo>
                  <a:pt x="0" y="1924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0" y="-526346"/>
            <a:ext cx="2490999" cy="2269855"/>
          </a:xfrm>
          <a:custGeom>
            <a:avLst/>
            <a:gdLst/>
            <a:ahLst/>
            <a:cxnLst/>
            <a:rect l="l" t="t" r="r" b="b"/>
            <a:pathLst>
              <a:path w="2490999" h="2269855">
                <a:moveTo>
                  <a:pt x="2490999" y="2269855"/>
                </a:moveTo>
                <a:lnTo>
                  <a:pt x="0" y="2269855"/>
                </a:lnTo>
                <a:lnTo>
                  <a:pt x="0" y="0"/>
                </a:lnTo>
                <a:lnTo>
                  <a:pt x="2490999" y="0"/>
                </a:lnTo>
                <a:lnTo>
                  <a:pt x="2490999" y="226985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95188" y="0"/>
            <a:ext cx="1692812" cy="2456587"/>
          </a:xfrm>
          <a:custGeom>
            <a:avLst/>
            <a:gdLst/>
            <a:ahLst/>
            <a:cxnLst/>
            <a:rect l="l" t="t" r="r" b="b"/>
            <a:pathLst>
              <a:path w="1692812" h="2456587">
                <a:moveTo>
                  <a:pt x="1692812" y="0"/>
                </a:moveTo>
                <a:lnTo>
                  <a:pt x="0" y="0"/>
                </a:lnTo>
                <a:lnTo>
                  <a:pt x="0" y="2456587"/>
                </a:lnTo>
                <a:lnTo>
                  <a:pt x="1692812" y="2456587"/>
                </a:lnTo>
                <a:lnTo>
                  <a:pt x="169281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724363" y="429488"/>
            <a:ext cx="10839274" cy="162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72"/>
              </a:lnSpc>
            </a:pPr>
            <a:r>
              <a:rPr lang="en-US" sz="9408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INTRODUCTION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123" y="1930705"/>
            <a:ext cx="16412894" cy="7841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8839" lvl="1" indent="-319419" algn="just">
              <a:lnSpc>
                <a:spcPts val="5266"/>
              </a:lnSpc>
              <a:buFont typeface="Arial"/>
              <a:buChar char="•"/>
            </a:pPr>
            <a:r>
              <a:rPr lang="en-US" sz="29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Student engagement is essential in promoting effective learning outcomes, especially in TLE–Food Processing, where both theory and hands-on skills are required.</a:t>
            </a:r>
          </a:p>
          <a:p>
            <a:pPr marL="638839" lvl="1" indent="-319419" algn="just">
              <a:lnSpc>
                <a:spcPts val="5266"/>
              </a:lnSpc>
              <a:buFont typeface="Arial"/>
              <a:buChar char="•"/>
            </a:pPr>
            <a:r>
              <a:rPr lang="en-US" sz="29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Challenges to engagement include limited resources, differing student interests, and varying levels of prior knowledge.</a:t>
            </a:r>
          </a:p>
          <a:p>
            <a:pPr marL="638839" lvl="1" indent="-319419" algn="just">
              <a:lnSpc>
                <a:spcPts val="5266"/>
              </a:lnSpc>
              <a:buFont typeface="Arial"/>
              <a:buChar char="•"/>
            </a:pPr>
            <a:r>
              <a:rPr lang="en-US" sz="29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Teachers play a vital role in sustaining engagement through innovative strategies such as multimedia use, real-life applications, and interactive teaching methods.</a:t>
            </a:r>
          </a:p>
          <a:p>
            <a:pPr marL="638839" lvl="1" indent="-319419" algn="just">
              <a:lnSpc>
                <a:spcPts val="5266"/>
              </a:lnSpc>
              <a:buFont typeface="Arial"/>
              <a:buChar char="•"/>
            </a:pPr>
            <a:r>
              <a:rPr lang="en-US" sz="29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Adapting technology and effective instructional strategies enhances student motivation, skill development, and overall performance.</a:t>
            </a:r>
          </a:p>
          <a:p>
            <a:pPr marL="638839" lvl="1" indent="-319419" algn="just">
              <a:lnSpc>
                <a:spcPts val="5266"/>
              </a:lnSpc>
              <a:buFont typeface="Arial"/>
              <a:buChar char="•"/>
            </a:pPr>
            <a:r>
              <a:rPr lang="en-US" sz="29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study aims to assess teachers’ strategies in enhancing student engagement in Food Processing lessons at E. Rodriguez Jr. High School to improve instructional practices and learning outcomes</a:t>
            </a:r>
          </a:p>
          <a:p>
            <a:pPr algn="just">
              <a:lnSpc>
                <a:spcPts val="3987"/>
              </a:lnSpc>
            </a:pPr>
            <a:endParaRPr lang="en-US" sz="2958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554259" y="8474919"/>
            <a:ext cx="2093771" cy="1907892"/>
          </a:xfrm>
          <a:custGeom>
            <a:avLst/>
            <a:gdLst/>
            <a:ahLst/>
            <a:cxnLst/>
            <a:rect l="l" t="t" r="r" b="b"/>
            <a:pathLst>
              <a:path w="2093771" h="1907892">
                <a:moveTo>
                  <a:pt x="0" y="0"/>
                </a:moveTo>
                <a:lnTo>
                  <a:pt x="2093771" y="0"/>
                </a:lnTo>
                <a:lnTo>
                  <a:pt x="2093771" y="1907892"/>
                </a:lnTo>
                <a:lnTo>
                  <a:pt x="0" y="19078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240452" cy="2041551"/>
          </a:xfrm>
          <a:custGeom>
            <a:avLst/>
            <a:gdLst/>
            <a:ahLst/>
            <a:cxnLst/>
            <a:rect l="l" t="t" r="r" b="b"/>
            <a:pathLst>
              <a:path w="2240452" h="2041551">
                <a:moveTo>
                  <a:pt x="2240452" y="2041551"/>
                </a:moveTo>
                <a:lnTo>
                  <a:pt x="0" y="2041551"/>
                </a:lnTo>
                <a:lnTo>
                  <a:pt x="0" y="0"/>
                </a:lnTo>
                <a:lnTo>
                  <a:pt x="2240452" y="0"/>
                </a:lnTo>
                <a:lnTo>
                  <a:pt x="2240452" y="204155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54259" y="0"/>
            <a:ext cx="1563341" cy="2268701"/>
          </a:xfrm>
          <a:custGeom>
            <a:avLst/>
            <a:gdLst/>
            <a:ahLst/>
            <a:cxnLst/>
            <a:rect l="l" t="t" r="r" b="b"/>
            <a:pathLst>
              <a:path w="1563341" h="2268701">
                <a:moveTo>
                  <a:pt x="1563341" y="0"/>
                </a:moveTo>
                <a:lnTo>
                  <a:pt x="0" y="0"/>
                </a:lnTo>
                <a:lnTo>
                  <a:pt x="0" y="2268701"/>
                </a:lnTo>
                <a:lnTo>
                  <a:pt x="1563341" y="2268701"/>
                </a:lnTo>
                <a:lnTo>
                  <a:pt x="156334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529737" y="109732"/>
            <a:ext cx="12697582" cy="1545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2"/>
              </a:lnSpc>
            </a:pPr>
            <a:r>
              <a:rPr lang="en-US" sz="8909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BACKGROUND OF THE STUDY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8863" y="1698658"/>
            <a:ext cx="15525559" cy="8684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244" lvl="1" indent="-348622" algn="just">
              <a:lnSpc>
                <a:spcPts val="5360"/>
              </a:lnSpc>
              <a:buFont typeface="Arial"/>
              <a:buChar char="•"/>
            </a:pPr>
            <a:r>
              <a:rPr lang="en-US" sz="322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Food Processing in the TLE curriculum equips students with essential technical and practical skills for livelihood and entrepreneurship through hands-on learning experiences.</a:t>
            </a:r>
          </a:p>
          <a:p>
            <a:pPr marL="697244" lvl="1" indent="-348622" algn="just">
              <a:lnSpc>
                <a:spcPts val="5360"/>
              </a:lnSpc>
              <a:buFont typeface="Arial"/>
              <a:buChar char="•"/>
            </a:pPr>
            <a:r>
              <a:rPr lang="en-US" sz="322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Many students face challenges in engagement due to traditional teaching methods, lack of resources, and limited access to interactive learning tools.</a:t>
            </a:r>
          </a:p>
          <a:p>
            <a:pPr marL="697244" lvl="1" indent="-348622" algn="just">
              <a:lnSpc>
                <a:spcPts val="5360"/>
              </a:lnSpc>
              <a:buFont typeface="Arial"/>
              <a:buChar char="•"/>
            </a:pPr>
            <a:r>
              <a:rPr lang="en-US" sz="322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Innovative strategies such as multimedia integration, project-based learning, and collaborative activities can enhance students’ motivation and participation.</a:t>
            </a:r>
          </a:p>
          <a:p>
            <a:pPr marL="697244" lvl="1" indent="-348622" algn="just">
              <a:lnSpc>
                <a:spcPts val="5360"/>
              </a:lnSpc>
              <a:buFont typeface="Arial"/>
              <a:buChar char="•"/>
            </a:pPr>
            <a:r>
              <a:rPr lang="en-US" sz="322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Teachers at E. Rodriguez Jr. High School actively apply these strategies to improve student interest and performance in Food Processing lessons.</a:t>
            </a:r>
          </a:p>
          <a:p>
            <a:pPr marL="697244" lvl="1" indent="-348622" algn="just">
              <a:lnSpc>
                <a:spcPts val="5360"/>
              </a:lnSpc>
              <a:buFont typeface="Arial"/>
              <a:buChar char="•"/>
            </a:pPr>
            <a:r>
              <a:rPr lang="en-US" sz="322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study aims to assess the effectiveness of these teaching strategies in enhancing engagement and guiding future instructional and professional development efforts.</a:t>
            </a:r>
          </a:p>
          <a:p>
            <a:pPr algn="just">
              <a:lnSpc>
                <a:spcPts val="4521"/>
              </a:lnSpc>
            </a:pPr>
            <a:endParaRPr lang="en-US" sz="3229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72726" y="8571576"/>
            <a:ext cx="2404310" cy="2190862"/>
          </a:xfrm>
          <a:custGeom>
            <a:avLst/>
            <a:gdLst/>
            <a:ahLst/>
            <a:cxnLst/>
            <a:rect l="l" t="t" r="r" b="b"/>
            <a:pathLst>
              <a:path w="2404310" h="2190862">
                <a:moveTo>
                  <a:pt x="0" y="0"/>
                </a:moveTo>
                <a:lnTo>
                  <a:pt x="2404310" y="0"/>
                </a:lnTo>
                <a:lnTo>
                  <a:pt x="2404310" y="2190862"/>
                </a:lnTo>
                <a:lnTo>
                  <a:pt x="0" y="2190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704252" cy="2464176"/>
          </a:xfrm>
          <a:custGeom>
            <a:avLst/>
            <a:gdLst/>
            <a:ahLst/>
            <a:cxnLst/>
            <a:rect l="l" t="t" r="r" b="b"/>
            <a:pathLst>
              <a:path w="2704252" h="2464176">
                <a:moveTo>
                  <a:pt x="2704252" y="2464176"/>
                </a:moveTo>
                <a:lnTo>
                  <a:pt x="0" y="2464176"/>
                </a:lnTo>
                <a:lnTo>
                  <a:pt x="0" y="0"/>
                </a:lnTo>
                <a:lnTo>
                  <a:pt x="2704252" y="0"/>
                </a:lnTo>
                <a:lnTo>
                  <a:pt x="2704252" y="2464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18229" y="-676411"/>
            <a:ext cx="1919187" cy="2785100"/>
          </a:xfrm>
          <a:custGeom>
            <a:avLst/>
            <a:gdLst/>
            <a:ahLst/>
            <a:cxnLst/>
            <a:rect l="l" t="t" r="r" b="b"/>
            <a:pathLst>
              <a:path w="1919187" h="2785100">
                <a:moveTo>
                  <a:pt x="1919187" y="0"/>
                </a:moveTo>
                <a:lnTo>
                  <a:pt x="0" y="0"/>
                </a:lnTo>
                <a:lnTo>
                  <a:pt x="0" y="2785100"/>
                </a:lnTo>
                <a:lnTo>
                  <a:pt x="1919187" y="2785100"/>
                </a:lnTo>
                <a:lnTo>
                  <a:pt x="19191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35030" y="2365013"/>
            <a:ext cx="16183199" cy="7532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3157" lvl="1" indent="-356578" algn="just">
              <a:lnSpc>
                <a:spcPts val="4624"/>
              </a:lnSpc>
              <a:buFont typeface="Arial"/>
              <a:buChar char="•"/>
            </a:pPr>
            <a:r>
              <a:rPr lang="en-US" sz="330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study is grounded on John Dewey’s Experiential Learning Theory, which emphasizes learning through active participation and real-life experiences.</a:t>
            </a:r>
          </a:p>
          <a:p>
            <a:pPr marL="713157" lvl="1" indent="-356578" algn="just">
              <a:lnSpc>
                <a:spcPts val="4624"/>
              </a:lnSpc>
              <a:buFont typeface="Arial"/>
              <a:buChar char="•"/>
            </a:pPr>
            <a:r>
              <a:rPr lang="en-US" sz="330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In Food Processing, this theory supports hands-on activities that help students develop both understanding and practical skills.</a:t>
            </a:r>
          </a:p>
          <a:p>
            <a:pPr marL="713157" lvl="1" indent="-356578" algn="just">
              <a:lnSpc>
                <a:spcPts val="4624"/>
              </a:lnSpc>
              <a:buFont typeface="Arial"/>
              <a:buChar char="•"/>
            </a:pPr>
            <a:r>
              <a:rPr lang="en-US" sz="330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Teachers’ strategies should focus on promoting active involvement, reflection, collaboration, and real-world application to enhance student engagement.</a:t>
            </a:r>
          </a:p>
          <a:p>
            <a:pPr marL="713157" lvl="1" indent="-356578" algn="just">
              <a:lnSpc>
                <a:spcPts val="4624"/>
              </a:lnSpc>
              <a:buFont typeface="Arial"/>
              <a:buChar char="•"/>
            </a:pPr>
            <a:r>
              <a:rPr lang="en-US" sz="330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study will assess teaching strategies based on active learning, real-world application, reflective thinking, collaboration, student-centered approaches, and feedback.</a:t>
            </a:r>
          </a:p>
          <a:p>
            <a:pPr marL="713157" lvl="1" indent="-356578" algn="just">
              <a:lnSpc>
                <a:spcPts val="4624"/>
              </a:lnSpc>
              <a:buFont typeface="Arial"/>
              <a:buChar char="•"/>
            </a:pPr>
            <a:r>
              <a:rPr lang="en-US" sz="330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Student engagement will be evaluated through behavioral (participation, effort, attention), emotional (interest, enjoyment, motivation), and cognitive (reflection, understanding, problem-solving) dimensions.</a:t>
            </a:r>
          </a:p>
          <a:p>
            <a:pPr algn="just">
              <a:lnSpc>
                <a:spcPts val="4624"/>
              </a:lnSpc>
            </a:pPr>
            <a:endParaRPr lang="en-US" sz="3303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79398" y="674123"/>
            <a:ext cx="13329205" cy="135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THEORETICAL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72726" y="8571576"/>
            <a:ext cx="2404310" cy="2190862"/>
          </a:xfrm>
          <a:custGeom>
            <a:avLst/>
            <a:gdLst/>
            <a:ahLst/>
            <a:cxnLst/>
            <a:rect l="l" t="t" r="r" b="b"/>
            <a:pathLst>
              <a:path w="2404310" h="2190862">
                <a:moveTo>
                  <a:pt x="0" y="0"/>
                </a:moveTo>
                <a:lnTo>
                  <a:pt x="2404310" y="0"/>
                </a:lnTo>
                <a:lnTo>
                  <a:pt x="2404310" y="2190862"/>
                </a:lnTo>
                <a:lnTo>
                  <a:pt x="0" y="2190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704252" cy="2464176"/>
          </a:xfrm>
          <a:custGeom>
            <a:avLst/>
            <a:gdLst/>
            <a:ahLst/>
            <a:cxnLst/>
            <a:rect l="l" t="t" r="r" b="b"/>
            <a:pathLst>
              <a:path w="2704252" h="2464176">
                <a:moveTo>
                  <a:pt x="2704252" y="2464176"/>
                </a:moveTo>
                <a:lnTo>
                  <a:pt x="0" y="2464176"/>
                </a:lnTo>
                <a:lnTo>
                  <a:pt x="0" y="0"/>
                </a:lnTo>
                <a:lnTo>
                  <a:pt x="2704252" y="0"/>
                </a:lnTo>
                <a:lnTo>
                  <a:pt x="2704252" y="2464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18229" y="-676411"/>
            <a:ext cx="1919187" cy="2785100"/>
          </a:xfrm>
          <a:custGeom>
            <a:avLst/>
            <a:gdLst/>
            <a:ahLst/>
            <a:cxnLst/>
            <a:rect l="l" t="t" r="r" b="b"/>
            <a:pathLst>
              <a:path w="1919187" h="2785100">
                <a:moveTo>
                  <a:pt x="1919187" y="0"/>
                </a:moveTo>
                <a:lnTo>
                  <a:pt x="0" y="0"/>
                </a:lnTo>
                <a:lnTo>
                  <a:pt x="0" y="2785100"/>
                </a:lnTo>
                <a:lnTo>
                  <a:pt x="1919187" y="2785100"/>
                </a:lnTo>
                <a:lnTo>
                  <a:pt x="1919187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649796" y="2685154"/>
            <a:ext cx="6316161" cy="6171841"/>
            <a:chOff x="0" y="0"/>
            <a:chExt cx="1663516" cy="162550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63516" cy="1625506"/>
            </a:xfrm>
            <a:custGeom>
              <a:avLst/>
              <a:gdLst/>
              <a:ahLst/>
              <a:cxnLst/>
              <a:rect l="l" t="t" r="r" b="b"/>
              <a:pathLst>
                <a:path w="1663516" h="1625506">
                  <a:moveTo>
                    <a:pt x="0" y="0"/>
                  </a:moveTo>
                  <a:lnTo>
                    <a:pt x="1663516" y="0"/>
                  </a:lnTo>
                  <a:lnTo>
                    <a:pt x="1663516" y="1625506"/>
                  </a:lnTo>
                  <a:lnTo>
                    <a:pt x="0" y="1625506"/>
                  </a:lnTo>
                  <a:close/>
                </a:path>
              </a:pathLst>
            </a:custGeom>
            <a:solidFill>
              <a:srgbClr val="D6C897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663516" cy="1682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INDEPENDENT VARIABLES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Teachers' Strategies in Enhancing Students' Engagement in Food Processing Lessons</a:t>
              </a:r>
            </a:p>
            <a:p>
              <a:pPr algn="ctr">
                <a:lnSpc>
                  <a:spcPts val="3779"/>
                </a:lnSpc>
              </a:pPr>
              <a:endPara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ctr">
                <a:lnSpc>
                  <a:spcPts val="3779"/>
                </a:lnSpc>
              </a:pPr>
              <a:endPara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a. Active Learning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b. Real-World Application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c. Reflective Thinking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d. Collaborative Learning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e. Student-Centered Approach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f. Feedback and Assessment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155669" y="2685154"/>
            <a:ext cx="6362560" cy="6171841"/>
            <a:chOff x="0" y="0"/>
            <a:chExt cx="1675736" cy="162550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5736" cy="1625506"/>
            </a:xfrm>
            <a:custGeom>
              <a:avLst/>
              <a:gdLst/>
              <a:ahLst/>
              <a:cxnLst/>
              <a:rect l="l" t="t" r="r" b="b"/>
              <a:pathLst>
                <a:path w="1675736" h="1625506">
                  <a:moveTo>
                    <a:pt x="0" y="0"/>
                  </a:moveTo>
                  <a:lnTo>
                    <a:pt x="1675736" y="0"/>
                  </a:lnTo>
                  <a:lnTo>
                    <a:pt x="1675736" y="1625506"/>
                  </a:lnTo>
                  <a:lnTo>
                    <a:pt x="0" y="1625506"/>
                  </a:lnTo>
                  <a:close/>
                </a:path>
              </a:pathLst>
            </a:custGeom>
            <a:solidFill>
              <a:srgbClr val="D6C89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675736" cy="16826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DEPENDENT VARIABLES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Students' Engagement in Food Processing Lessons</a:t>
              </a:r>
            </a:p>
            <a:p>
              <a:pPr algn="ctr">
                <a:lnSpc>
                  <a:spcPts val="3779"/>
                </a:lnSpc>
              </a:pPr>
              <a:endParaRPr lang="en-US" sz="26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endParaRP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a. Behavioral Engagement (participation, effort, attention)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b. Emotional Engagement (interest, enjoyment, motivation)</a:t>
              </a:r>
            </a:p>
            <a:p>
              <a:pPr algn="l">
                <a:lnSpc>
                  <a:spcPts val="3779"/>
                </a:lnSpc>
              </a:pPr>
              <a:r>
                <a:rPr lang="en-US" sz="26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c. Cognitive Engagement (reflection, understanding, problem-solving)</a:t>
              </a: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903616" y="5143500"/>
            <a:ext cx="2252053" cy="1253489"/>
            <a:chOff x="0" y="0"/>
            <a:chExt cx="649479" cy="36149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49479" cy="361499"/>
            </a:xfrm>
            <a:custGeom>
              <a:avLst/>
              <a:gdLst/>
              <a:ahLst/>
              <a:cxnLst/>
              <a:rect l="l" t="t" r="r" b="b"/>
              <a:pathLst>
                <a:path w="649479" h="361499">
                  <a:moveTo>
                    <a:pt x="649479" y="180753"/>
                  </a:moveTo>
                  <a:lnTo>
                    <a:pt x="389513" y="361499"/>
                  </a:lnTo>
                  <a:lnTo>
                    <a:pt x="405271" y="236752"/>
                  </a:lnTo>
                  <a:lnTo>
                    <a:pt x="244208" y="236752"/>
                  </a:lnTo>
                  <a:lnTo>
                    <a:pt x="259966" y="361499"/>
                  </a:lnTo>
                  <a:lnTo>
                    <a:pt x="0" y="180753"/>
                  </a:lnTo>
                  <a:lnTo>
                    <a:pt x="259966" y="0"/>
                  </a:lnTo>
                  <a:lnTo>
                    <a:pt x="244196" y="124785"/>
                  </a:lnTo>
                  <a:lnTo>
                    <a:pt x="405283" y="124785"/>
                  </a:lnTo>
                  <a:lnTo>
                    <a:pt x="389513" y="0"/>
                  </a:lnTo>
                  <a:lnTo>
                    <a:pt x="649479" y="180753"/>
                  </a:lnTo>
                  <a:close/>
                </a:path>
              </a:pathLst>
            </a:custGeom>
            <a:solidFill>
              <a:srgbClr val="4C69B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14300" y="88900"/>
              <a:ext cx="420879" cy="1455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79398" y="674123"/>
            <a:ext cx="13329205" cy="135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CONCEPTUAL  FRAMEWORK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5260" y="8336967"/>
            <a:ext cx="2661776" cy="2425471"/>
          </a:xfrm>
          <a:custGeom>
            <a:avLst/>
            <a:gdLst/>
            <a:ahLst/>
            <a:cxnLst/>
            <a:rect l="l" t="t" r="r" b="b"/>
            <a:pathLst>
              <a:path w="2661776" h="2425471">
                <a:moveTo>
                  <a:pt x="0" y="0"/>
                </a:moveTo>
                <a:lnTo>
                  <a:pt x="2661776" y="0"/>
                </a:lnTo>
                <a:lnTo>
                  <a:pt x="2661776" y="2425471"/>
                </a:lnTo>
                <a:lnTo>
                  <a:pt x="0" y="242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704252" cy="2464176"/>
          </a:xfrm>
          <a:custGeom>
            <a:avLst/>
            <a:gdLst/>
            <a:ahLst/>
            <a:cxnLst/>
            <a:rect l="l" t="t" r="r" b="b"/>
            <a:pathLst>
              <a:path w="2704252" h="2464176">
                <a:moveTo>
                  <a:pt x="2704252" y="2464176"/>
                </a:moveTo>
                <a:lnTo>
                  <a:pt x="0" y="2464176"/>
                </a:lnTo>
                <a:lnTo>
                  <a:pt x="0" y="0"/>
                </a:lnTo>
                <a:lnTo>
                  <a:pt x="2704252" y="0"/>
                </a:lnTo>
                <a:lnTo>
                  <a:pt x="2704252" y="2464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64676" y="-676411"/>
            <a:ext cx="2272740" cy="3298172"/>
          </a:xfrm>
          <a:custGeom>
            <a:avLst/>
            <a:gdLst/>
            <a:ahLst/>
            <a:cxnLst/>
            <a:rect l="l" t="t" r="r" b="b"/>
            <a:pathLst>
              <a:path w="2272740" h="3298172">
                <a:moveTo>
                  <a:pt x="2272740" y="0"/>
                </a:moveTo>
                <a:lnTo>
                  <a:pt x="0" y="0"/>
                </a:lnTo>
                <a:lnTo>
                  <a:pt x="0" y="3298172"/>
                </a:lnTo>
                <a:lnTo>
                  <a:pt x="2272740" y="3298172"/>
                </a:lnTo>
                <a:lnTo>
                  <a:pt x="22727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86235" y="2462274"/>
            <a:ext cx="16079511" cy="7087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1.   How may the demographic profile of the respondents be described in terms of;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1.1.      Age;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1.2.      Sex;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1.3.      Grade level; and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1.4.      Social Status?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   How may the teaching strategies utilized by the teachers be assessed in terms of;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2.1.      Active learning;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2.2.      Real – world application;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2.3.      Reflective thinking;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2.4.      Collaborative learning;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2.5.      Student – centered approach; and</a:t>
            </a:r>
          </a:p>
          <a:p>
            <a:pPr algn="just">
              <a:lnSpc>
                <a:spcPts val="4035"/>
              </a:lnSpc>
            </a:pPr>
            <a:r>
              <a:rPr lang="en-US" sz="288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2.6.      Feedback and assessment?</a:t>
            </a:r>
          </a:p>
          <a:p>
            <a:pPr algn="just">
              <a:lnSpc>
                <a:spcPts val="4035"/>
              </a:lnSpc>
            </a:pPr>
            <a:endParaRPr lang="en-US" sz="2882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79398" y="674123"/>
            <a:ext cx="13329205" cy="135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STATEMENT OF THE PROBLEM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5260" y="8336967"/>
            <a:ext cx="2661776" cy="2425471"/>
          </a:xfrm>
          <a:custGeom>
            <a:avLst/>
            <a:gdLst/>
            <a:ahLst/>
            <a:cxnLst/>
            <a:rect l="l" t="t" r="r" b="b"/>
            <a:pathLst>
              <a:path w="2661776" h="2425471">
                <a:moveTo>
                  <a:pt x="0" y="0"/>
                </a:moveTo>
                <a:lnTo>
                  <a:pt x="2661776" y="0"/>
                </a:lnTo>
                <a:lnTo>
                  <a:pt x="2661776" y="2425471"/>
                </a:lnTo>
                <a:lnTo>
                  <a:pt x="0" y="242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704252" cy="2464176"/>
          </a:xfrm>
          <a:custGeom>
            <a:avLst/>
            <a:gdLst/>
            <a:ahLst/>
            <a:cxnLst/>
            <a:rect l="l" t="t" r="r" b="b"/>
            <a:pathLst>
              <a:path w="2704252" h="2464176">
                <a:moveTo>
                  <a:pt x="2704252" y="2464176"/>
                </a:moveTo>
                <a:lnTo>
                  <a:pt x="0" y="2464176"/>
                </a:lnTo>
                <a:lnTo>
                  <a:pt x="0" y="0"/>
                </a:lnTo>
                <a:lnTo>
                  <a:pt x="2704252" y="0"/>
                </a:lnTo>
                <a:lnTo>
                  <a:pt x="2704252" y="2464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64676" y="-676411"/>
            <a:ext cx="2272740" cy="3298172"/>
          </a:xfrm>
          <a:custGeom>
            <a:avLst/>
            <a:gdLst/>
            <a:ahLst/>
            <a:cxnLst/>
            <a:rect l="l" t="t" r="r" b="b"/>
            <a:pathLst>
              <a:path w="2272740" h="3298172">
                <a:moveTo>
                  <a:pt x="2272740" y="0"/>
                </a:moveTo>
                <a:lnTo>
                  <a:pt x="0" y="0"/>
                </a:lnTo>
                <a:lnTo>
                  <a:pt x="0" y="3298172"/>
                </a:lnTo>
                <a:lnTo>
                  <a:pt x="2272740" y="3298172"/>
                </a:lnTo>
                <a:lnTo>
                  <a:pt x="22727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82130" y="2555086"/>
            <a:ext cx="16123337" cy="8008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862"/>
              </a:lnSpc>
            </a:pPr>
            <a:r>
              <a:rPr lang="en-US" sz="3473" b="1">
                <a:solidFill>
                  <a:srgbClr val="3D414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3. How may the level of students’ engagement in food processing lessons be assessed in terms of;</a:t>
            </a:r>
          </a:p>
          <a:p>
            <a:pPr algn="just">
              <a:lnSpc>
                <a:spcPts val="4862"/>
              </a:lnSpc>
            </a:pPr>
            <a:r>
              <a:rPr lang="en-US" sz="347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3.1.    Behavioral engagement (participation, effort, and attention);</a:t>
            </a:r>
          </a:p>
          <a:p>
            <a:pPr algn="just">
              <a:lnSpc>
                <a:spcPts val="4862"/>
              </a:lnSpc>
            </a:pPr>
            <a:r>
              <a:rPr lang="en-US" sz="347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3.2.    Emotional engagement (interest, enjoyment, and motivation); and</a:t>
            </a:r>
          </a:p>
          <a:p>
            <a:pPr algn="just">
              <a:lnSpc>
                <a:spcPts val="4862"/>
              </a:lnSpc>
            </a:pPr>
            <a:r>
              <a:rPr lang="en-US" sz="347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3.3.   Cognitive engagement (reflection, understanding, and problem – solving)?</a:t>
            </a:r>
          </a:p>
          <a:p>
            <a:pPr algn="just">
              <a:lnSpc>
                <a:spcPts val="4862"/>
              </a:lnSpc>
            </a:pPr>
            <a:endParaRPr lang="en-US" sz="3473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862"/>
              </a:lnSpc>
            </a:pPr>
            <a:r>
              <a:rPr lang="en-US" sz="347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4.  Is there a significant relationship between the teachers’ strategies and students’ level of engagement in food processing lessons?</a:t>
            </a:r>
          </a:p>
          <a:p>
            <a:pPr algn="just">
              <a:lnSpc>
                <a:spcPts val="4862"/>
              </a:lnSpc>
            </a:pPr>
            <a:endParaRPr lang="en-US" sz="3473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862"/>
              </a:lnSpc>
            </a:pPr>
            <a:r>
              <a:rPr lang="en-US" sz="3473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5.   Based on the findings, what enhancement plan or program may be proposed to further improve students’ engagement in food processing lessons?</a:t>
            </a:r>
          </a:p>
          <a:p>
            <a:pPr algn="just">
              <a:lnSpc>
                <a:spcPts val="5626"/>
              </a:lnSpc>
            </a:pPr>
            <a:endParaRPr lang="en-US" sz="3473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4862"/>
              </a:lnSpc>
            </a:pPr>
            <a:endParaRPr lang="en-US" sz="3473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479398" y="674123"/>
            <a:ext cx="13329205" cy="135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STATEMENT OF THE PROBLEM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015260" y="8336967"/>
            <a:ext cx="2661776" cy="2425471"/>
          </a:xfrm>
          <a:custGeom>
            <a:avLst/>
            <a:gdLst/>
            <a:ahLst/>
            <a:cxnLst/>
            <a:rect l="l" t="t" r="r" b="b"/>
            <a:pathLst>
              <a:path w="2661776" h="2425471">
                <a:moveTo>
                  <a:pt x="0" y="0"/>
                </a:moveTo>
                <a:lnTo>
                  <a:pt x="2661776" y="0"/>
                </a:lnTo>
                <a:lnTo>
                  <a:pt x="2661776" y="2425471"/>
                </a:lnTo>
                <a:lnTo>
                  <a:pt x="0" y="2425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704252" cy="2464176"/>
          </a:xfrm>
          <a:custGeom>
            <a:avLst/>
            <a:gdLst/>
            <a:ahLst/>
            <a:cxnLst/>
            <a:rect l="l" t="t" r="r" b="b"/>
            <a:pathLst>
              <a:path w="2704252" h="2464176">
                <a:moveTo>
                  <a:pt x="2704252" y="2464176"/>
                </a:moveTo>
                <a:lnTo>
                  <a:pt x="0" y="2464176"/>
                </a:lnTo>
                <a:lnTo>
                  <a:pt x="0" y="0"/>
                </a:lnTo>
                <a:lnTo>
                  <a:pt x="2704252" y="0"/>
                </a:lnTo>
                <a:lnTo>
                  <a:pt x="2704252" y="246417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164676" y="-676411"/>
            <a:ext cx="2272740" cy="3298172"/>
          </a:xfrm>
          <a:custGeom>
            <a:avLst/>
            <a:gdLst/>
            <a:ahLst/>
            <a:cxnLst/>
            <a:rect l="l" t="t" r="r" b="b"/>
            <a:pathLst>
              <a:path w="2272740" h="3298172">
                <a:moveTo>
                  <a:pt x="2272740" y="0"/>
                </a:moveTo>
                <a:lnTo>
                  <a:pt x="0" y="0"/>
                </a:lnTo>
                <a:lnTo>
                  <a:pt x="0" y="3298172"/>
                </a:lnTo>
                <a:lnTo>
                  <a:pt x="2272740" y="3298172"/>
                </a:lnTo>
                <a:lnTo>
                  <a:pt x="227274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12790" y="3411856"/>
            <a:ext cx="3404062" cy="4114800"/>
          </a:xfrm>
          <a:custGeom>
            <a:avLst/>
            <a:gdLst/>
            <a:ahLst/>
            <a:cxnLst/>
            <a:rect l="l" t="t" r="r" b="b"/>
            <a:pathLst>
              <a:path w="3404062" h="4114800">
                <a:moveTo>
                  <a:pt x="0" y="0"/>
                </a:moveTo>
                <a:lnTo>
                  <a:pt x="3404062" y="0"/>
                </a:lnTo>
                <a:lnTo>
                  <a:pt x="340406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716852" y="5143500"/>
            <a:ext cx="3748848" cy="2783520"/>
          </a:xfrm>
          <a:custGeom>
            <a:avLst/>
            <a:gdLst/>
            <a:ahLst/>
            <a:cxnLst/>
            <a:rect l="l" t="t" r="r" b="b"/>
            <a:pathLst>
              <a:path w="3748848" h="2783520">
                <a:moveTo>
                  <a:pt x="0" y="0"/>
                </a:moveTo>
                <a:lnTo>
                  <a:pt x="3748848" y="0"/>
                </a:lnTo>
                <a:lnTo>
                  <a:pt x="3748848" y="2783520"/>
                </a:lnTo>
                <a:lnTo>
                  <a:pt x="0" y="27835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788003" y="4845895"/>
            <a:ext cx="4153292" cy="2680761"/>
          </a:xfrm>
          <a:custGeom>
            <a:avLst/>
            <a:gdLst/>
            <a:ahLst/>
            <a:cxnLst/>
            <a:rect l="l" t="t" r="r" b="b"/>
            <a:pathLst>
              <a:path w="4153292" h="2680761">
                <a:moveTo>
                  <a:pt x="0" y="0"/>
                </a:moveTo>
                <a:lnTo>
                  <a:pt x="4153291" y="0"/>
                </a:lnTo>
                <a:lnTo>
                  <a:pt x="4153291" y="2680761"/>
                </a:lnTo>
                <a:lnTo>
                  <a:pt x="0" y="26807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676800" y="3509795"/>
            <a:ext cx="4254023" cy="4114800"/>
          </a:xfrm>
          <a:custGeom>
            <a:avLst/>
            <a:gdLst/>
            <a:ahLst/>
            <a:cxnLst/>
            <a:rect l="l" t="t" r="r" b="b"/>
            <a:pathLst>
              <a:path w="4254023" h="4114800">
                <a:moveTo>
                  <a:pt x="0" y="0"/>
                </a:moveTo>
                <a:lnTo>
                  <a:pt x="4254023" y="0"/>
                </a:lnTo>
                <a:lnTo>
                  <a:pt x="425402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33095" y="7783804"/>
            <a:ext cx="2363451" cy="75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82"/>
              </a:lnSpc>
            </a:pPr>
            <a:r>
              <a:rPr lang="en-US" sz="4001" b="1">
                <a:solidFill>
                  <a:srgbClr val="3D414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Students</a:t>
            </a:r>
            <a:r>
              <a:rPr lang="en-US" sz="4001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14821" y="801225"/>
            <a:ext cx="13329205" cy="1354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920"/>
              </a:lnSpc>
            </a:pPr>
            <a:r>
              <a:rPr lang="en-US" sz="7800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SIGNIFICANCE OF THE STUDY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992017" y="7783804"/>
            <a:ext cx="2364522" cy="7580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482"/>
              </a:lnSpc>
            </a:pPr>
            <a:r>
              <a:rPr lang="en-US" sz="4001" b="1">
                <a:solidFill>
                  <a:srgbClr val="3D414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Teachers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73446" y="7472195"/>
            <a:ext cx="3464914" cy="157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2"/>
              </a:lnSpc>
            </a:pPr>
            <a:r>
              <a:rPr lang="en-US" sz="4001" b="1">
                <a:solidFill>
                  <a:srgbClr val="3D414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Educational Institutions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263597" y="7374256"/>
            <a:ext cx="3080428" cy="157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2"/>
              </a:lnSpc>
            </a:pPr>
            <a:r>
              <a:rPr lang="en-US" sz="4001" b="1">
                <a:solidFill>
                  <a:srgbClr val="3D414D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Future Researchers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069654"/>
            <a:ext cx="2217044" cy="3217346"/>
          </a:xfrm>
          <a:custGeom>
            <a:avLst/>
            <a:gdLst/>
            <a:ahLst/>
            <a:cxnLst/>
            <a:rect l="l" t="t" r="r" b="b"/>
            <a:pathLst>
              <a:path w="2217044" h="3217346">
                <a:moveTo>
                  <a:pt x="0" y="0"/>
                </a:moveTo>
                <a:lnTo>
                  <a:pt x="2217044" y="0"/>
                </a:lnTo>
                <a:lnTo>
                  <a:pt x="2217044" y="3217346"/>
                </a:lnTo>
                <a:lnTo>
                  <a:pt x="0" y="32173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6429511" y="0"/>
            <a:ext cx="1858489" cy="2697016"/>
          </a:xfrm>
          <a:custGeom>
            <a:avLst/>
            <a:gdLst/>
            <a:ahLst/>
            <a:cxnLst/>
            <a:rect l="l" t="t" r="r" b="b"/>
            <a:pathLst>
              <a:path w="1858489" h="2697016">
                <a:moveTo>
                  <a:pt x="1858489" y="0"/>
                </a:moveTo>
                <a:lnTo>
                  <a:pt x="0" y="0"/>
                </a:lnTo>
                <a:lnTo>
                  <a:pt x="0" y="2697016"/>
                </a:lnTo>
                <a:lnTo>
                  <a:pt x="1858489" y="2697016"/>
                </a:lnTo>
                <a:lnTo>
                  <a:pt x="185848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42633" y="1622211"/>
            <a:ext cx="17602735" cy="5819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592"/>
              </a:lnSpc>
            </a:pPr>
            <a:r>
              <a:rPr lang="en-US" sz="8280" b="1" i="1">
                <a:solidFill>
                  <a:srgbClr val="3D414D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CHAPTER 2</a:t>
            </a:r>
          </a:p>
          <a:p>
            <a:pPr algn="ctr">
              <a:lnSpc>
                <a:spcPts val="11592"/>
              </a:lnSpc>
            </a:pPr>
            <a:endParaRPr lang="en-US" sz="8280" b="1" i="1">
              <a:solidFill>
                <a:srgbClr val="3D414D"/>
              </a:solidFill>
              <a:latin typeface="TT Interphases Bold Italics"/>
              <a:ea typeface="TT Interphases Bold Italics"/>
              <a:cs typeface="TT Interphases Bold Italics"/>
              <a:sym typeface="TT Interphases Bold Italics"/>
            </a:endParaRPr>
          </a:p>
          <a:p>
            <a:pPr algn="ctr">
              <a:lnSpc>
                <a:spcPts val="11592"/>
              </a:lnSpc>
            </a:pPr>
            <a:r>
              <a:rPr lang="en-US" sz="8280" b="1" i="1">
                <a:solidFill>
                  <a:srgbClr val="3D414D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METHODOLOGY  OF THE STUDY</a:t>
            </a:r>
          </a:p>
          <a:p>
            <a:pPr algn="ctr">
              <a:lnSpc>
                <a:spcPts val="11592"/>
              </a:lnSpc>
            </a:pPr>
            <a:endParaRPr lang="en-US" sz="8280" b="1" i="1">
              <a:solidFill>
                <a:srgbClr val="3D414D"/>
              </a:solidFill>
              <a:latin typeface="TT Interphases Bold Italics"/>
              <a:ea typeface="TT Interphases Bold Italics"/>
              <a:cs typeface="TT Interphases Bold Italics"/>
              <a:sym typeface="TT Interphases Bold Itali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61442" y="7022631"/>
            <a:ext cx="2321735" cy="3369272"/>
          </a:xfrm>
          <a:custGeom>
            <a:avLst/>
            <a:gdLst/>
            <a:ahLst/>
            <a:cxnLst/>
            <a:rect l="l" t="t" r="r" b="b"/>
            <a:pathLst>
              <a:path w="2321735" h="3369272">
                <a:moveTo>
                  <a:pt x="0" y="0"/>
                </a:moveTo>
                <a:lnTo>
                  <a:pt x="2321735" y="0"/>
                </a:lnTo>
                <a:lnTo>
                  <a:pt x="2321735" y="3369272"/>
                </a:lnTo>
                <a:lnTo>
                  <a:pt x="0" y="3369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302516" y="8712343"/>
            <a:ext cx="2218717" cy="2021746"/>
          </a:xfrm>
          <a:custGeom>
            <a:avLst/>
            <a:gdLst/>
            <a:ahLst/>
            <a:cxnLst/>
            <a:rect l="l" t="t" r="r" b="b"/>
            <a:pathLst>
              <a:path w="2218717" h="2021746">
                <a:moveTo>
                  <a:pt x="0" y="0"/>
                </a:moveTo>
                <a:lnTo>
                  <a:pt x="2218718" y="0"/>
                </a:lnTo>
                <a:lnTo>
                  <a:pt x="2218718" y="2021745"/>
                </a:lnTo>
                <a:lnTo>
                  <a:pt x="0" y="2021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465891" y="-386515"/>
            <a:ext cx="2139920" cy="1949944"/>
          </a:xfrm>
          <a:custGeom>
            <a:avLst/>
            <a:gdLst/>
            <a:ahLst/>
            <a:cxnLst/>
            <a:rect l="l" t="t" r="r" b="b"/>
            <a:pathLst>
              <a:path w="2139920" h="1949944">
                <a:moveTo>
                  <a:pt x="2139920" y="1949944"/>
                </a:moveTo>
                <a:lnTo>
                  <a:pt x="0" y="1949944"/>
                </a:lnTo>
                <a:lnTo>
                  <a:pt x="0" y="0"/>
                </a:lnTo>
                <a:lnTo>
                  <a:pt x="2139920" y="0"/>
                </a:lnTo>
                <a:lnTo>
                  <a:pt x="2139920" y="194994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637982" y="-205740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2835471" y="0"/>
                </a:moveTo>
                <a:lnTo>
                  <a:pt x="0" y="0"/>
                </a:lnTo>
                <a:lnTo>
                  <a:pt x="0" y="4114800"/>
                </a:lnTo>
                <a:lnTo>
                  <a:pt x="2835471" y="4114800"/>
                </a:lnTo>
                <a:lnTo>
                  <a:pt x="28354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60293" y="1919189"/>
            <a:ext cx="16099007" cy="8367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4742" lvl="1" indent="-322371" algn="l">
              <a:lnSpc>
                <a:spcPts val="5793"/>
              </a:lnSpc>
              <a:buFont typeface="Arial"/>
              <a:buChar char="•"/>
            </a:pPr>
            <a:r>
              <a:rPr lang="en-US" sz="2986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study used a descriptive quantitative research design to examine teachers’ strategies for enhancing student engagement in Food Processing lessons.</a:t>
            </a:r>
          </a:p>
          <a:p>
            <a:pPr marL="644742" lvl="1" indent="-322371" algn="l">
              <a:lnSpc>
                <a:spcPts val="5793"/>
              </a:lnSpc>
              <a:buFont typeface="Arial"/>
              <a:buChar char="•"/>
            </a:pPr>
            <a:r>
              <a:rPr lang="en-US" sz="2986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descriptive design aimed to gather factual and objective information about existing teaching strategies and levels of engagement.</a:t>
            </a:r>
          </a:p>
          <a:p>
            <a:pPr marL="644742" lvl="1" indent="-322371" algn="l">
              <a:lnSpc>
                <a:spcPts val="5793"/>
              </a:lnSpc>
              <a:buFont typeface="Arial"/>
              <a:buChar char="•"/>
            </a:pPr>
            <a:r>
              <a:rPr lang="en-US" sz="2986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This approach focused on presenting an accurate profile of the situation without manipulating any variables.</a:t>
            </a:r>
          </a:p>
          <a:p>
            <a:pPr marL="644742" lvl="1" indent="-322371" algn="l">
              <a:lnSpc>
                <a:spcPts val="5793"/>
              </a:lnSpc>
              <a:buFont typeface="Arial"/>
              <a:buChar char="•"/>
            </a:pPr>
            <a:r>
              <a:rPr lang="en-US" sz="2986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Quantitative methods allowed the use of numerical data to measure relationships between teaching strategies and student engagement.</a:t>
            </a:r>
          </a:p>
          <a:p>
            <a:pPr marL="644742" lvl="1" indent="-322371" algn="l">
              <a:lnSpc>
                <a:spcPts val="5793"/>
              </a:lnSpc>
              <a:buFont typeface="Arial"/>
              <a:buChar char="•"/>
            </a:pPr>
            <a:r>
              <a:rPr lang="en-US" sz="2986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were collected through structured questionnaires and analyzed statistically to ensure reliable, evidence-based conclusions and recommendations</a:t>
            </a:r>
          </a:p>
          <a:p>
            <a:pPr algn="l">
              <a:lnSpc>
                <a:spcPts val="4180"/>
              </a:lnSpc>
            </a:pPr>
            <a:endParaRPr lang="en-US" sz="2986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l">
              <a:lnSpc>
                <a:spcPts val="4180"/>
              </a:lnSpc>
            </a:pPr>
            <a:endParaRPr lang="en-US" sz="2986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433711" y="352872"/>
            <a:ext cx="12264802" cy="119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61"/>
              </a:lnSpc>
            </a:pPr>
            <a:r>
              <a:rPr lang="en-US" sz="6901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RESEARCH DESIGN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8107317"/>
            <a:ext cx="1672883" cy="2427667"/>
          </a:xfrm>
          <a:custGeom>
            <a:avLst/>
            <a:gdLst/>
            <a:ahLst/>
            <a:cxnLst/>
            <a:rect l="l" t="t" r="r" b="b"/>
            <a:pathLst>
              <a:path w="1672883" h="2427667">
                <a:moveTo>
                  <a:pt x="0" y="0"/>
                </a:moveTo>
                <a:lnTo>
                  <a:pt x="1672883" y="0"/>
                </a:lnTo>
                <a:lnTo>
                  <a:pt x="1672883" y="2427667"/>
                </a:lnTo>
                <a:lnTo>
                  <a:pt x="0" y="24276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07865" y="8411360"/>
            <a:ext cx="2580135" cy="2351078"/>
          </a:xfrm>
          <a:custGeom>
            <a:avLst/>
            <a:gdLst/>
            <a:ahLst/>
            <a:cxnLst/>
            <a:rect l="l" t="t" r="r" b="b"/>
            <a:pathLst>
              <a:path w="2580135" h="2351078">
                <a:moveTo>
                  <a:pt x="0" y="0"/>
                </a:moveTo>
                <a:lnTo>
                  <a:pt x="2580135" y="0"/>
                </a:lnTo>
                <a:lnTo>
                  <a:pt x="2580135" y="2351078"/>
                </a:lnTo>
                <a:lnTo>
                  <a:pt x="0" y="23510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465891" y="-386515"/>
            <a:ext cx="2682017" cy="2443915"/>
          </a:xfrm>
          <a:custGeom>
            <a:avLst/>
            <a:gdLst/>
            <a:ahLst/>
            <a:cxnLst/>
            <a:rect l="l" t="t" r="r" b="b"/>
            <a:pathLst>
              <a:path w="2682017" h="2443915">
                <a:moveTo>
                  <a:pt x="2682017" y="2443915"/>
                </a:moveTo>
                <a:lnTo>
                  <a:pt x="0" y="2443915"/>
                </a:lnTo>
                <a:lnTo>
                  <a:pt x="0" y="0"/>
                </a:lnTo>
                <a:lnTo>
                  <a:pt x="2682017" y="0"/>
                </a:lnTo>
                <a:lnTo>
                  <a:pt x="2682017" y="244391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340361" y="-295572"/>
            <a:ext cx="1947639" cy="2826389"/>
          </a:xfrm>
          <a:custGeom>
            <a:avLst/>
            <a:gdLst/>
            <a:ahLst/>
            <a:cxnLst/>
            <a:rect l="l" t="t" r="r" b="b"/>
            <a:pathLst>
              <a:path w="1947639" h="2826389">
                <a:moveTo>
                  <a:pt x="1947639" y="0"/>
                </a:moveTo>
                <a:lnTo>
                  <a:pt x="0" y="0"/>
                </a:lnTo>
                <a:lnTo>
                  <a:pt x="0" y="2826390"/>
                </a:lnTo>
                <a:lnTo>
                  <a:pt x="1947639" y="2826390"/>
                </a:lnTo>
                <a:lnTo>
                  <a:pt x="19476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383950" y="595653"/>
            <a:ext cx="11520101" cy="92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POPULATION AND SAMPLING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33321" y="1914525"/>
            <a:ext cx="14546602" cy="691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8811" lvl="1" indent="-314405" algn="l">
              <a:lnSpc>
                <a:spcPts val="5096"/>
              </a:lnSpc>
              <a:buFont typeface="Arial"/>
              <a:buChar char="•"/>
            </a:pPr>
            <a:r>
              <a:rPr lang="en-US" sz="291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study used a total enumeration sampling technique, including all teachers and students involved in Food Processing lessons at E. Rodriguez Jr. High School.</a:t>
            </a:r>
          </a:p>
          <a:p>
            <a:pPr marL="628811" lvl="1" indent="-314405" algn="l">
              <a:lnSpc>
                <a:spcPts val="5096"/>
              </a:lnSpc>
              <a:buFont typeface="Arial"/>
              <a:buChar char="•"/>
            </a:pPr>
            <a:r>
              <a:rPr lang="en-US" sz="291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This method ensured that every member of the defined population was represented in the study.</a:t>
            </a:r>
          </a:p>
          <a:p>
            <a:pPr marL="628811" lvl="1" indent="-314405" algn="l">
              <a:lnSpc>
                <a:spcPts val="5096"/>
              </a:lnSpc>
              <a:buFont typeface="Arial"/>
              <a:buChar char="•"/>
            </a:pPr>
            <a:r>
              <a:rPr lang="en-US" sz="291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It was chosen due to the manageable size of the target population and the need for comprehensive data.</a:t>
            </a:r>
          </a:p>
          <a:p>
            <a:pPr marL="628811" lvl="1" indent="-314405" algn="l">
              <a:lnSpc>
                <a:spcPts val="5096"/>
              </a:lnSpc>
              <a:buFont typeface="Arial"/>
              <a:buChar char="•"/>
            </a:pPr>
            <a:r>
              <a:rPr lang="en-US" sz="291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approach helped eliminate sampling bias and improve the reliability and validity of the results.</a:t>
            </a:r>
          </a:p>
          <a:p>
            <a:pPr marL="628811" lvl="1" indent="-314405" algn="l">
              <a:lnSpc>
                <a:spcPts val="5096"/>
              </a:lnSpc>
              <a:buFont typeface="Arial"/>
              <a:buChar char="•"/>
            </a:pPr>
            <a:r>
              <a:rPr lang="en-US" sz="2912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By involving all participants, the study captured a complete picture of teaching strategies and student engagement within the program.</a:t>
            </a:r>
          </a:p>
          <a:p>
            <a:pPr algn="l">
              <a:lnSpc>
                <a:spcPts val="3777"/>
              </a:lnSpc>
            </a:pPr>
            <a:endParaRPr lang="en-US" sz="2912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94253" y="8704812"/>
            <a:ext cx="2226981" cy="2029276"/>
          </a:xfrm>
          <a:custGeom>
            <a:avLst/>
            <a:gdLst/>
            <a:ahLst/>
            <a:cxnLst/>
            <a:rect l="l" t="t" r="r" b="b"/>
            <a:pathLst>
              <a:path w="2226981" h="2029276">
                <a:moveTo>
                  <a:pt x="0" y="0"/>
                </a:moveTo>
                <a:lnTo>
                  <a:pt x="2226981" y="0"/>
                </a:lnTo>
                <a:lnTo>
                  <a:pt x="2226981" y="2029276"/>
                </a:lnTo>
                <a:lnTo>
                  <a:pt x="0" y="20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072428" cy="1888443"/>
          </a:xfrm>
          <a:custGeom>
            <a:avLst/>
            <a:gdLst/>
            <a:ahLst/>
            <a:cxnLst/>
            <a:rect l="l" t="t" r="r" b="b"/>
            <a:pathLst>
              <a:path w="2072428" h="1888443">
                <a:moveTo>
                  <a:pt x="2072428" y="1888443"/>
                </a:moveTo>
                <a:lnTo>
                  <a:pt x="0" y="1888443"/>
                </a:lnTo>
                <a:lnTo>
                  <a:pt x="0" y="0"/>
                </a:lnTo>
                <a:lnTo>
                  <a:pt x="2072428" y="0"/>
                </a:lnTo>
                <a:lnTo>
                  <a:pt x="2072428" y="18884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294253" y="-386515"/>
            <a:ext cx="1761090" cy="2555672"/>
          </a:xfrm>
          <a:custGeom>
            <a:avLst/>
            <a:gdLst/>
            <a:ahLst/>
            <a:cxnLst/>
            <a:rect l="l" t="t" r="r" b="b"/>
            <a:pathLst>
              <a:path w="1761090" h="2555672">
                <a:moveTo>
                  <a:pt x="1761090" y="0"/>
                </a:moveTo>
                <a:lnTo>
                  <a:pt x="0" y="0"/>
                </a:lnTo>
                <a:lnTo>
                  <a:pt x="0" y="2555672"/>
                </a:lnTo>
                <a:lnTo>
                  <a:pt x="1761090" y="2555672"/>
                </a:lnTo>
                <a:lnTo>
                  <a:pt x="17610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06537" y="1812742"/>
            <a:ext cx="14861144" cy="7445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respondents of the study are students enrolled in Food Processing subjects at E. Rodriguez Jr. High School.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They were selected because of their direct experience with the teaching strategies used in Food Processing lessons.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Their perceptions help determine how different instructional approaches influence behavioral, emotional, and cognitive engagement.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Focusing on students allows the study to capture authentic learning experiences and engagement levels.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Their feedback provides essential data for improving teaching strategies, instruction quality, and learning outcomes in the TLE curriculum.</a:t>
            </a:r>
          </a:p>
          <a:p>
            <a:pPr algn="just">
              <a:lnSpc>
                <a:spcPts val="3499"/>
              </a:lnSpc>
            </a:pPr>
            <a:endParaRPr lang="en-US" sz="2599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83950" y="298603"/>
            <a:ext cx="11520101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RESPONDENTS OF THE STUDY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94253" y="8704812"/>
            <a:ext cx="2226981" cy="2029276"/>
          </a:xfrm>
          <a:custGeom>
            <a:avLst/>
            <a:gdLst/>
            <a:ahLst/>
            <a:cxnLst/>
            <a:rect l="l" t="t" r="r" b="b"/>
            <a:pathLst>
              <a:path w="2226981" h="2029276">
                <a:moveTo>
                  <a:pt x="0" y="0"/>
                </a:moveTo>
                <a:lnTo>
                  <a:pt x="2226981" y="0"/>
                </a:lnTo>
                <a:lnTo>
                  <a:pt x="2226981" y="2029276"/>
                </a:lnTo>
                <a:lnTo>
                  <a:pt x="0" y="2029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465891" y="-386515"/>
            <a:ext cx="2072428" cy="1888443"/>
          </a:xfrm>
          <a:custGeom>
            <a:avLst/>
            <a:gdLst/>
            <a:ahLst/>
            <a:cxnLst/>
            <a:rect l="l" t="t" r="r" b="b"/>
            <a:pathLst>
              <a:path w="2072428" h="1888443">
                <a:moveTo>
                  <a:pt x="2072428" y="1888443"/>
                </a:moveTo>
                <a:lnTo>
                  <a:pt x="0" y="1888443"/>
                </a:lnTo>
                <a:lnTo>
                  <a:pt x="0" y="0"/>
                </a:lnTo>
                <a:lnTo>
                  <a:pt x="2072428" y="0"/>
                </a:lnTo>
                <a:lnTo>
                  <a:pt x="2072428" y="188844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294253" y="-386515"/>
            <a:ext cx="1761090" cy="2555672"/>
          </a:xfrm>
          <a:custGeom>
            <a:avLst/>
            <a:gdLst/>
            <a:ahLst/>
            <a:cxnLst/>
            <a:rect l="l" t="t" r="r" b="b"/>
            <a:pathLst>
              <a:path w="1761090" h="2555672">
                <a:moveTo>
                  <a:pt x="1761090" y="0"/>
                </a:moveTo>
                <a:lnTo>
                  <a:pt x="0" y="0"/>
                </a:lnTo>
                <a:lnTo>
                  <a:pt x="0" y="2555672"/>
                </a:lnTo>
                <a:lnTo>
                  <a:pt x="1761090" y="2555672"/>
                </a:lnTo>
                <a:lnTo>
                  <a:pt x="176109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606537" y="1931032"/>
            <a:ext cx="14230647" cy="814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study will utilize a questionnaire as the main research instrument to gather necessary data.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questionnaire is designed to collect quantitative information about respondents’ attitudes, experiences, and opinions.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It will have three parts: a checklist for demographic profile, and two sections using a 4-point Likert scale.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Likert scale sections will assess teaching strategies and students’ academic performance.</a:t>
            </a:r>
          </a:p>
          <a:p>
            <a:pPr marL="561339" lvl="1" indent="-280669" algn="just">
              <a:lnSpc>
                <a:spcPts val="5511"/>
              </a:lnSpc>
              <a:buFont typeface="Arial"/>
              <a:buChar char="•"/>
            </a:pPr>
            <a:r>
              <a:rPr lang="en-US" sz="2599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This instrument enables the researcher to collect and analyze data systematically to achieve the study’s objectives.</a:t>
            </a:r>
          </a:p>
          <a:p>
            <a:pPr algn="just">
              <a:lnSpc>
                <a:spcPts val="5511"/>
              </a:lnSpc>
            </a:pPr>
            <a:endParaRPr lang="en-US" sz="2599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  <a:p>
            <a:pPr algn="just">
              <a:lnSpc>
                <a:spcPts val="3499"/>
              </a:lnSpc>
            </a:pPr>
            <a:endParaRPr lang="en-US" sz="2599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383950" y="414831"/>
            <a:ext cx="11520101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RESEARCH INSTRUMENT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2377" y="2878939"/>
            <a:ext cx="14928362" cy="680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0316" lvl="1" indent="-300158" algn="just">
              <a:lnSpc>
                <a:spcPts val="5422"/>
              </a:lnSpc>
              <a:buFont typeface="Arial"/>
              <a:buChar char="•"/>
            </a:pPr>
            <a:r>
              <a:rPr lang="en-US" sz="2780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questionnaire will undergo a validity test evaluated by three education experts with postgraduate degrees and thesis experience.</a:t>
            </a:r>
          </a:p>
          <a:p>
            <a:pPr marL="600316" lvl="1" indent="-300158" algn="just">
              <a:lnSpc>
                <a:spcPts val="5422"/>
              </a:lnSpc>
              <a:buFont typeface="Arial"/>
              <a:buChar char="•"/>
            </a:pPr>
            <a:r>
              <a:rPr lang="en-US" sz="2780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Experts will assess the questionnaire using a five-point rating scale ranging from Poor to Excellent.</a:t>
            </a:r>
          </a:p>
          <a:p>
            <a:pPr marL="600316" lvl="1" indent="-300158" algn="just">
              <a:lnSpc>
                <a:spcPts val="5422"/>
              </a:lnSpc>
              <a:buFont typeface="Arial"/>
              <a:buChar char="•"/>
            </a:pPr>
            <a:r>
              <a:rPr lang="en-US" sz="2780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validity test ensures that the instrument accurately measures the intended variables.</a:t>
            </a:r>
          </a:p>
          <a:p>
            <a:pPr marL="600316" lvl="1" indent="-300158" algn="just">
              <a:lnSpc>
                <a:spcPts val="5422"/>
              </a:lnSpc>
              <a:buFont typeface="Arial"/>
              <a:buChar char="•"/>
            </a:pPr>
            <a:r>
              <a:rPr lang="en-US" sz="2780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reliability test will also be conducted through a pre-survey with 30 students from other schools.</a:t>
            </a:r>
          </a:p>
          <a:p>
            <a:pPr marL="600316" lvl="1" indent="-300158" algn="just">
              <a:lnSpc>
                <a:spcPts val="5422"/>
              </a:lnSpc>
              <a:buFont typeface="Arial"/>
              <a:buChar char="•"/>
            </a:pPr>
            <a:r>
              <a:rPr lang="en-US" sz="2780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Data from the pre-survey will be analyzed using Cronbach’s alpha to determine the internal consistency of the questionnaire.</a:t>
            </a:r>
          </a:p>
          <a:p>
            <a:pPr algn="just">
              <a:lnSpc>
                <a:spcPts val="5422"/>
              </a:lnSpc>
            </a:pPr>
            <a:endParaRPr lang="en-US" sz="2780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79607" y="359966"/>
            <a:ext cx="13677065" cy="2237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VALIDITY / RELIABILITY OF THE QUESTIONNAIRE</a:t>
            </a:r>
          </a:p>
        </p:txBody>
      </p:sp>
      <p:sp>
        <p:nvSpPr>
          <p:cNvPr id="4" name="Freeform 4"/>
          <p:cNvSpPr/>
          <p:nvPr/>
        </p:nvSpPr>
        <p:spPr>
          <a:xfrm>
            <a:off x="16211866" y="8629740"/>
            <a:ext cx="2309368" cy="2104349"/>
          </a:xfrm>
          <a:custGeom>
            <a:avLst/>
            <a:gdLst/>
            <a:ahLst/>
            <a:cxnLst/>
            <a:rect l="l" t="t" r="r" b="b"/>
            <a:pathLst>
              <a:path w="2309368" h="2104349">
                <a:moveTo>
                  <a:pt x="0" y="0"/>
                </a:moveTo>
                <a:lnTo>
                  <a:pt x="2309368" y="0"/>
                </a:lnTo>
                <a:lnTo>
                  <a:pt x="2309368" y="2104348"/>
                </a:lnTo>
                <a:lnTo>
                  <a:pt x="0" y="21043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465891" y="-386515"/>
            <a:ext cx="2596535" cy="2366022"/>
          </a:xfrm>
          <a:custGeom>
            <a:avLst/>
            <a:gdLst/>
            <a:ahLst/>
            <a:cxnLst/>
            <a:rect l="l" t="t" r="r" b="b"/>
            <a:pathLst>
              <a:path w="2596535" h="2366022">
                <a:moveTo>
                  <a:pt x="2596535" y="2366022"/>
                </a:moveTo>
                <a:lnTo>
                  <a:pt x="0" y="2366022"/>
                </a:lnTo>
                <a:lnTo>
                  <a:pt x="0" y="0"/>
                </a:lnTo>
                <a:lnTo>
                  <a:pt x="2596535" y="0"/>
                </a:lnTo>
                <a:lnTo>
                  <a:pt x="2596535" y="236602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157930" y="0"/>
            <a:ext cx="2130070" cy="3091131"/>
          </a:xfrm>
          <a:custGeom>
            <a:avLst/>
            <a:gdLst/>
            <a:ahLst/>
            <a:cxnLst/>
            <a:rect l="l" t="t" r="r" b="b"/>
            <a:pathLst>
              <a:path w="2130070" h="3091131">
                <a:moveTo>
                  <a:pt x="2130070" y="0"/>
                </a:moveTo>
                <a:lnTo>
                  <a:pt x="0" y="0"/>
                </a:lnTo>
                <a:lnTo>
                  <a:pt x="0" y="3091131"/>
                </a:lnTo>
                <a:lnTo>
                  <a:pt x="2130070" y="3091131"/>
                </a:lnTo>
                <a:lnTo>
                  <a:pt x="213007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92233" y="2219199"/>
            <a:ext cx="15131237" cy="733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9631" lvl="1" indent="-324815" algn="just">
              <a:lnSpc>
                <a:spcPts val="5386"/>
              </a:lnSpc>
              <a:buFont typeface="Arial"/>
              <a:buChar char="•"/>
            </a:pPr>
            <a:r>
              <a:rPr lang="en-US" sz="300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researcher will first create the survey questionnaire and have it reviewed and approved by the research adviser.</a:t>
            </a:r>
          </a:p>
          <a:p>
            <a:pPr marL="649631" lvl="1" indent="-324815" algn="just">
              <a:lnSpc>
                <a:spcPts val="5386"/>
              </a:lnSpc>
              <a:buFont typeface="Arial"/>
              <a:buChar char="•"/>
            </a:pPr>
            <a:r>
              <a:rPr lang="en-US" sz="300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Validity and reliability tests will be conducted to ensure the questionnaire meets its intended purpose.</a:t>
            </a:r>
          </a:p>
          <a:p>
            <a:pPr marL="649631" lvl="1" indent="-324815" algn="just">
              <a:lnSpc>
                <a:spcPts val="5386"/>
              </a:lnSpc>
              <a:buFont typeface="Arial"/>
              <a:buChar char="•"/>
            </a:pPr>
            <a:r>
              <a:rPr lang="en-US" sz="300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Approval to conduct the survey will be sought from the dean of the graduate school before reaching out to respondents.</a:t>
            </a:r>
          </a:p>
          <a:p>
            <a:pPr marL="649631" lvl="1" indent="-324815" algn="just">
              <a:lnSpc>
                <a:spcPts val="5386"/>
              </a:lnSpc>
              <a:buFont typeface="Arial"/>
              <a:buChar char="•"/>
            </a:pPr>
            <a:r>
              <a:rPr lang="en-US" sz="300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Respondents will be informed about the study, assured of confidentiality, and asked for consent before answering the questionnaire.</a:t>
            </a:r>
          </a:p>
          <a:p>
            <a:pPr marL="649631" lvl="1" indent="-324815" algn="just">
              <a:lnSpc>
                <a:spcPts val="5386"/>
              </a:lnSpc>
              <a:buFont typeface="Arial"/>
              <a:buChar char="•"/>
            </a:pPr>
            <a:r>
              <a:rPr lang="en-US" sz="300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Collected data will be analyzed and interpreted with the assistance of a statistician to identify patterns, trends, and significant findings.</a:t>
            </a:r>
          </a:p>
          <a:p>
            <a:pPr algn="just">
              <a:lnSpc>
                <a:spcPts val="4212"/>
              </a:lnSpc>
            </a:pPr>
            <a:endParaRPr lang="en-US" sz="3008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250357" y="984273"/>
            <a:ext cx="13112936" cy="11043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DATA GATHERING PROCEDURE</a:t>
            </a:r>
          </a:p>
        </p:txBody>
      </p:sp>
      <p:sp>
        <p:nvSpPr>
          <p:cNvPr id="4" name="Freeform 4"/>
          <p:cNvSpPr/>
          <p:nvPr/>
        </p:nvSpPr>
        <p:spPr>
          <a:xfrm>
            <a:off x="15803969" y="8258055"/>
            <a:ext cx="2717264" cy="2476033"/>
          </a:xfrm>
          <a:custGeom>
            <a:avLst/>
            <a:gdLst/>
            <a:ahLst/>
            <a:cxnLst/>
            <a:rect l="l" t="t" r="r" b="b"/>
            <a:pathLst>
              <a:path w="2717264" h="2476033">
                <a:moveTo>
                  <a:pt x="0" y="0"/>
                </a:moveTo>
                <a:lnTo>
                  <a:pt x="2717265" y="0"/>
                </a:lnTo>
                <a:lnTo>
                  <a:pt x="2717265" y="2476033"/>
                </a:lnTo>
                <a:lnTo>
                  <a:pt x="0" y="24760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465891" y="-386515"/>
            <a:ext cx="2716248" cy="2475107"/>
          </a:xfrm>
          <a:custGeom>
            <a:avLst/>
            <a:gdLst/>
            <a:ahLst/>
            <a:cxnLst/>
            <a:rect l="l" t="t" r="r" b="b"/>
            <a:pathLst>
              <a:path w="2716248" h="2475107">
                <a:moveTo>
                  <a:pt x="2716248" y="2475107"/>
                </a:moveTo>
                <a:lnTo>
                  <a:pt x="0" y="2475107"/>
                </a:lnTo>
                <a:lnTo>
                  <a:pt x="0" y="0"/>
                </a:lnTo>
                <a:lnTo>
                  <a:pt x="2716248" y="0"/>
                </a:lnTo>
                <a:lnTo>
                  <a:pt x="2716248" y="247510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388633" y="-145878"/>
            <a:ext cx="1741334" cy="2527002"/>
          </a:xfrm>
          <a:custGeom>
            <a:avLst/>
            <a:gdLst/>
            <a:ahLst/>
            <a:cxnLst/>
            <a:rect l="l" t="t" r="r" b="b"/>
            <a:pathLst>
              <a:path w="1741334" h="2527002">
                <a:moveTo>
                  <a:pt x="1741334" y="0"/>
                </a:moveTo>
                <a:lnTo>
                  <a:pt x="0" y="0"/>
                </a:lnTo>
                <a:lnTo>
                  <a:pt x="0" y="2527002"/>
                </a:lnTo>
                <a:lnTo>
                  <a:pt x="1741334" y="2527002"/>
                </a:lnTo>
                <a:lnTo>
                  <a:pt x="17413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33958" y="2133953"/>
            <a:ext cx="15147411" cy="720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1886" lvl="1" indent="-340943" algn="just">
              <a:lnSpc>
                <a:spcPts val="5242"/>
              </a:lnSpc>
              <a:buFont typeface="Arial"/>
              <a:buChar char="•"/>
            </a:pPr>
            <a:r>
              <a:rPr lang="en-US" sz="31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Frequency count and percentage will be used to analyze the demographic profile of respondents.</a:t>
            </a:r>
          </a:p>
          <a:p>
            <a:pPr marL="681886" lvl="1" indent="-340943" algn="just">
              <a:lnSpc>
                <a:spcPts val="5242"/>
              </a:lnSpc>
              <a:buFont typeface="Arial"/>
              <a:buChar char="•"/>
            </a:pPr>
            <a:r>
              <a:rPr lang="en-US" sz="31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A 4-point Likert scale will be applied to assess teaching strategies and students’ academic performance.</a:t>
            </a:r>
          </a:p>
          <a:p>
            <a:pPr marL="681886" lvl="1" indent="-340943" algn="just">
              <a:lnSpc>
                <a:spcPts val="5242"/>
              </a:lnSpc>
              <a:buFont typeface="Arial"/>
              <a:buChar char="•"/>
            </a:pPr>
            <a:r>
              <a:rPr lang="en-US" sz="31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 Likert scale ranges from 1 (Disagree) to 4 (Strongly Agree) to interpret respondents’ levels of agreement.</a:t>
            </a:r>
          </a:p>
          <a:p>
            <a:pPr marL="681886" lvl="1" indent="-340943" algn="just">
              <a:lnSpc>
                <a:spcPts val="5242"/>
              </a:lnSpc>
              <a:buFont typeface="Arial"/>
              <a:buChar char="•"/>
            </a:pPr>
            <a:r>
              <a:rPr lang="en-US" sz="31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Statistical analysis will be conducted using SPSS to determine the correlation between variables.</a:t>
            </a:r>
          </a:p>
          <a:p>
            <a:pPr marL="681886" lvl="1" indent="-340943" algn="just">
              <a:lnSpc>
                <a:spcPts val="5242"/>
              </a:lnSpc>
              <a:buFont typeface="Arial"/>
              <a:buChar char="•"/>
            </a:pPr>
            <a:r>
              <a:rPr lang="en-US" sz="3158">
                <a:solidFill>
                  <a:srgbClr val="3D414D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These methods ensure accurate, systematic, and meaningful interpretation of the gathered data.</a:t>
            </a:r>
          </a:p>
          <a:p>
            <a:pPr algn="just">
              <a:lnSpc>
                <a:spcPts val="5242"/>
              </a:lnSpc>
            </a:pPr>
            <a:endParaRPr lang="en-US" sz="3158">
              <a:solidFill>
                <a:srgbClr val="3D414D"/>
              </a:solidFill>
              <a:latin typeface="TT Interphases"/>
              <a:ea typeface="TT Interphases"/>
              <a:cs typeface="TT Interphases"/>
              <a:sym typeface="TT Interphas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3560743" y="876300"/>
            <a:ext cx="10370096" cy="1147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08"/>
              </a:lnSpc>
            </a:pPr>
            <a:r>
              <a:rPr lang="en-US" sz="6577">
                <a:solidFill>
                  <a:srgbClr val="3D414D"/>
                </a:solidFill>
                <a:latin typeface="Chewy"/>
                <a:ea typeface="Chewy"/>
                <a:cs typeface="Chewy"/>
                <a:sym typeface="Chewy"/>
              </a:rPr>
              <a:t>DATA ANALYSIS</a:t>
            </a:r>
          </a:p>
        </p:txBody>
      </p:sp>
      <p:sp>
        <p:nvSpPr>
          <p:cNvPr id="4" name="Freeform 4"/>
          <p:cNvSpPr/>
          <p:nvPr/>
        </p:nvSpPr>
        <p:spPr>
          <a:xfrm>
            <a:off x="16157625" y="8580314"/>
            <a:ext cx="2363609" cy="2153774"/>
          </a:xfrm>
          <a:custGeom>
            <a:avLst/>
            <a:gdLst/>
            <a:ahLst/>
            <a:cxnLst/>
            <a:rect l="l" t="t" r="r" b="b"/>
            <a:pathLst>
              <a:path w="2363609" h="2153774">
                <a:moveTo>
                  <a:pt x="0" y="0"/>
                </a:moveTo>
                <a:lnTo>
                  <a:pt x="2363609" y="0"/>
                </a:lnTo>
                <a:lnTo>
                  <a:pt x="2363609" y="2153774"/>
                </a:lnTo>
                <a:lnTo>
                  <a:pt x="0" y="2153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465891" y="-386515"/>
            <a:ext cx="2682017" cy="2443915"/>
          </a:xfrm>
          <a:custGeom>
            <a:avLst/>
            <a:gdLst/>
            <a:ahLst/>
            <a:cxnLst/>
            <a:rect l="l" t="t" r="r" b="b"/>
            <a:pathLst>
              <a:path w="2682017" h="2443915">
                <a:moveTo>
                  <a:pt x="2682017" y="2443915"/>
                </a:moveTo>
                <a:lnTo>
                  <a:pt x="0" y="2443915"/>
                </a:lnTo>
                <a:lnTo>
                  <a:pt x="0" y="0"/>
                </a:lnTo>
                <a:lnTo>
                  <a:pt x="2682017" y="0"/>
                </a:lnTo>
                <a:lnTo>
                  <a:pt x="2682017" y="244391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6481368" y="-55336"/>
            <a:ext cx="1806632" cy="2621761"/>
          </a:xfrm>
          <a:custGeom>
            <a:avLst/>
            <a:gdLst/>
            <a:ahLst/>
            <a:cxnLst/>
            <a:rect l="l" t="t" r="r" b="b"/>
            <a:pathLst>
              <a:path w="1806632" h="2621761">
                <a:moveTo>
                  <a:pt x="1806632" y="0"/>
                </a:moveTo>
                <a:lnTo>
                  <a:pt x="0" y="0"/>
                </a:lnTo>
                <a:lnTo>
                  <a:pt x="0" y="2621761"/>
                </a:lnTo>
                <a:lnTo>
                  <a:pt x="1806632" y="2621761"/>
                </a:lnTo>
                <a:lnTo>
                  <a:pt x="1806632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37038" y="6619288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0" y="0"/>
                </a:moveTo>
                <a:lnTo>
                  <a:pt x="2835471" y="0"/>
                </a:lnTo>
                <a:lnTo>
                  <a:pt x="283547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19871" y="7725812"/>
            <a:ext cx="3301362" cy="3008277"/>
          </a:xfrm>
          <a:custGeom>
            <a:avLst/>
            <a:gdLst/>
            <a:ahLst/>
            <a:cxnLst/>
            <a:rect l="l" t="t" r="r" b="b"/>
            <a:pathLst>
              <a:path w="3301362" h="3008277">
                <a:moveTo>
                  <a:pt x="0" y="0"/>
                </a:moveTo>
                <a:lnTo>
                  <a:pt x="3301363" y="0"/>
                </a:lnTo>
                <a:lnTo>
                  <a:pt x="3301363" y="3008276"/>
                </a:lnTo>
                <a:lnTo>
                  <a:pt x="0" y="30082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465891" y="-386515"/>
            <a:ext cx="3301362" cy="3008277"/>
          </a:xfrm>
          <a:custGeom>
            <a:avLst/>
            <a:gdLst/>
            <a:ahLst/>
            <a:cxnLst/>
            <a:rect l="l" t="t" r="r" b="b"/>
            <a:pathLst>
              <a:path w="3301362" h="3008277">
                <a:moveTo>
                  <a:pt x="3301362" y="3008276"/>
                </a:moveTo>
                <a:lnTo>
                  <a:pt x="0" y="3008276"/>
                </a:lnTo>
                <a:lnTo>
                  <a:pt x="0" y="0"/>
                </a:lnTo>
                <a:lnTo>
                  <a:pt x="3301362" y="0"/>
                </a:lnTo>
                <a:lnTo>
                  <a:pt x="3301362" y="300827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448238" y="0"/>
            <a:ext cx="2835471" cy="4114800"/>
          </a:xfrm>
          <a:custGeom>
            <a:avLst/>
            <a:gdLst/>
            <a:ahLst/>
            <a:cxnLst/>
            <a:rect l="l" t="t" r="r" b="b"/>
            <a:pathLst>
              <a:path w="2835471" h="4114800">
                <a:moveTo>
                  <a:pt x="2835471" y="0"/>
                </a:moveTo>
                <a:lnTo>
                  <a:pt x="0" y="0"/>
                </a:lnTo>
                <a:lnTo>
                  <a:pt x="0" y="4114800"/>
                </a:lnTo>
                <a:lnTo>
                  <a:pt x="2835471" y="4114800"/>
                </a:lnTo>
                <a:lnTo>
                  <a:pt x="283547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39787" y="1036832"/>
            <a:ext cx="12208425" cy="523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700"/>
              </a:lnSpc>
            </a:pPr>
            <a:r>
              <a:rPr lang="en-US" sz="30500">
                <a:solidFill>
                  <a:srgbClr val="3D414D"/>
                </a:solidFill>
                <a:latin typeface="TT Knickerbockers Script"/>
                <a:ea typeface="TT Knickerbockers Script"/>
                <a:cs typeface="TT Knickerbockers Script"/>
                <a:sym typeface="TT Knickerbockers Script"/>
              </a:rPr>
              <a:t>Thank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01134" y="4515445"/>
            <a:ext cx="11285732" cy="3788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82"/>
              </a:lnSpc>
            </a:pPr>
            <a:r>
              <a:rPr lang="en-US" sz="22201" b="1" i="1">
                <a:solidFill>
                  <a:srgbClr val="3D414D"/>
                </a:solidFill>
                <a:latin typeface="TT Interphases Bold Italics"/>
                <a:ea typeface="TT Interphases Bold Italics"/>
                <a:cs typeface="TT Interphases Bold Italics"/>
                <a:sym typeface="TT Interphases Bold Italics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1344</Words>
  <Application>Microsoft Office PowerPoint</Application>
  <PresentationFormat>Custom</PresentationFormat>
  <Paragraphs>112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Canva Sans</vt:lpstr>
      <vt:lpstr>Calibri</vt:lpstr>
      <vt:lpstr>Chewy</vt:lpstr>
      <vt:lpstr>TT Interphases Bold Italics</vt:lpstr>
      <vt:lpstr>TT Knickerbockers Script</vt:lpstr>
      <vt:lpstr>TT Interphases</vt:lpstr>
      <vt:lpstr>Canva Sans Bold</vt:lpstr>
      <vt:lpstr>Arial</vt:lpstr>
      <vt:lpstr>TT Interphases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ASSESSMENT OF FIRE SAFETY AWARENESS PROGRAM AMONG PUBLIC SCHOOLS IN NAVOTAS CITY</dc:title>
  <dc:creator>The Doctor</dc:creator>
  <cp:lastModifiedBy>LOUIELLA ARCA</cp:lastModifiedBy>
  <cp:revision>1</cp:revision>
  <dcterms:created xsi:type="dcterms:W3CDTF">2006-08-16T00:00:00Z</dcterms:created>
  <dcterms:modified xsi:type="dcterms:W3CDTF">2025-10-10T06:58:07Z</dcterms:modified>
  <dc:identifier>DAGy_dewDYU</dc:identifier>
</cp:coreProperties>
</file>